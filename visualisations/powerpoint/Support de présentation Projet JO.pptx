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1728">
          <p15:clr>
            <a:srgbClr val="747775"/>
          </p15:clr>
        </p15:guide>
        <p15:guide id="3" pos="403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1728"/>
        <p:guide pos="40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3d7cab8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3d7cab8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2f4e3273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b2f4e327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f4e3273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b2f4e327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3d7cab85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3d7cab85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f4e32739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2f4e3273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2f4e32739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b2f4e327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30f9a483b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b30f9a483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30f9a483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30f9a4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30f9a483b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b30f9a483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30f9a483b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b30f9a483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30f9a483b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b30f9a483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30f9a483b_0_3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b30f9a483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30f9a483b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b30f9a48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30f9a483b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b30f9a483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30f9a483b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b30f9a483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98ca92d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b498ca92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5.png"/><Relationship Id="rId11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4.png"/><Relationship Id="rId13" Type="http://schemas.openxmlformats.org/officeDocument/2006/relationships/image" Target="../media/image27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15" Type="http://schemas.openxmlformats.org/officeDocument/2006/relationships/image" Target="../media/image26.png"/><Relationship Id="rId14" Type="http://schemas.openxmlformats.org/officeDocument/2006/relationships/image" Target="../media/image29.png"/><Relationship Id="rId16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5.png"/><Relationship Id="rId13" Type="http://schemas.openxmlformats.org/officeDocument/2006/relationships/image" Target="../media/image5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1.jpg"/><Relationship Id="rId9" Type="http://schemas.openxmlformats.org/officeDocument/2006/relationships/image" Target="../media/image39.png"/><Relationship Id="rId1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45.png"/><Relationship Id="rId8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8.png"/><Relationship Id="rId9" Type="http://schemas.openxmlformats.org/officeDocument/2006/relationships/image" Target="../media/image4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47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9" Type="http://schemas.openxmlformats.org/officeDocument/2006/relationships/image" Target="../media/image42.png"/><Relationship Id="rId5" Type="http://schemas.openxmlformats.org/officeDocument/2006/relationships/image" Target="../media/image4.png"/><Relationship Id="rId6" Type="http://schemas.openxmlformats.org/officeDocument/2006/relationships/image" Target="../media/image56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36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0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hyperlink" Target="http://www.youtube.com/watch?v=EY76mXg9wP8" TargetMode="External"/><Relationship Id="rId7" Type="http://schemas.openxmlformats.org/officeDocument/2006/relationships/image" Target="../media/image5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57.png"/><Relationship Id="rId13" Type="http://schemas.openxmlformats.org/officeDocument/2006/relationships/image" Target="../media/image60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9" Type="http://schemas.openxmlformats.org/officeDocument/2006/relationships/image" Target="../media/image59.png"/><Relationship Id="rId5" Type="http://schemas.openxmlformats.org/officeDocument/2006/relationships/image" Target="../media/image4.png"/><Relationship Id="rId6" Type="http://schemas.openxmlformats.org/officeDocument/2006/relationships/image" Target="../media/image62.png"/><Relationship Id="rId7" Type="http://schemas.openxmlformats.org/officeDocument/2006/relationships/image" Target="../media/image52.png"/><Relationship Id="rId8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56.png"/><Relationship Id="rId7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8442">
            <a:alpha val="92500"/>
          </a:srgbClr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25775" y="-37"/>
            <a:ext cx="1037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Your Tech Bootcamp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8"/>
            <a:ext cx="563350" cy="5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0" y="1828895"/>
            <a:ext cx="9144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3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126 </a:t>
            </a:r>
            <a:r>
              <a:rPr lang="fr" sz="43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ans de Jeux Olympiques</a:t>
            </a:r>
            <a:endParaRPr sz="43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63900" y="4054001"/>
            <a:ext cx="121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Stéphanie </a:t>
            </a:r>
            <a:endParaRPr sz="1025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BRETTON</a:t>
            </a:r>
            <a:endParaRPr sz="1025">
              <a:solidFill>
                <a:schemeClr val="accent2"/>
              </a:solidFill>
            </a:endParaRPr>
          </a:p>
        </p:txBody>
      </p:sp>
      <p:pic>
        <p:nvPicPr>
          <p:cNvPr id="58" name="Google Shape;58;p13" title="175753587856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7210" y="3166944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59;p13" title="olympic-game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5000" y="4465612"/>
            <a:ext cx="594001" cy="59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Pourquoi les Jeux Olympiques ? </a:t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Présentation du Dataset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EDA, visualisations pour explorer les pistes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OLAP, Modélisation du schéma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Dashboard : Analyse multidimensionnelle des performances olympiques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Conclusion et ouverture</a:t>
            </a:r>
            <a:endParaRPr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PROGRAMME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4" title="olympic-games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813" y="1275500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dataset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7813" y="1806381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visualisation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27813" y="2345856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olap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7813" y="2878844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business (1)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27813" y="3455344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ightbulb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27813" y="3974294"/>
            <a:ext cx="252000" cy="25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4"/>
          <p:cNvCxnSpPr/>
          <p:nvPr/>
        </p:nvCxnSpPr>
        <p:spPr>
          <a:xfrm>
            <a:off x="2145080" y="1379303"/>
            <a:ext cx="3600" cy="2681400"/>
          </a:xfrm>
          <a:prstGeom prst="straightConnector1">
            <a:avLst/>
          </a:prstGeom>
          <a:noFill/>
          <a:ln cap="flat" cmpd="sng" w="9525">
            <a:solidFill>
              <a:srgbClr val="A7844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4"/>
          <p:cNvSpPr/>
          <p:nvPr/>
        </p:nvSpPr>
        <p:spPr>
          <a:xfrm>
            <a:off x="2107273" y="1350506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2107286" y="1892768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2107286" y="2464268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2107286" y="296524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2107286" y="354174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2107286" y="406069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4" title="2021_anneaux_olympiques_png_transparent_20210724_1834024954.png"/>
          <p:cNvPicPr preferRelativeResize="0"/>
          <p:nvPr/>
        </p:nvPicPr>
        <p:blipFill rotWithShape="1">
          <a:blip r:embed="rId10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thème qui me passionne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sujet qui parle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à une majorité de personnes à travers le monde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Audience estimée pour les JO de Paris 2024</a:t>
            </a: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≈ 5 milliards de personnes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défi technique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Manipuler des datasets massifs et variés dans le temps pour en extraire des insights pertinents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Effectuer du scraping pour extraire des données spécifiques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POURQUOI LES JEUX OLYMPIQUES ?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5" title="passionate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8313" y="113492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meeting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8313" y="184937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eiffel-tower (1).png"/>
          <p:cNvPicPr preferRelativeResize="0"/>
          <p:nvPr/>
        </p:nvPicPr>
        <p:blipFill rotWithShape="1">
          <a:blip r:embed="rId6">
            <a:alphaModFix/>
          </a:blip>
          <a:srcRect b="0" l="0" r="30449" t="0"/>
          <a:stretch/>
        </p:blipFill>
        <p:spPr>
          <a:xfrm>
            <a:off x="1303134" y="2658455"/>
            <a:ext cx="25037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data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8313" y="355017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2021_anneaux_olympiques_png_transparent_20210724_1834024954.png"/>
          <p:cNvPicPr preferRelativeResize="0"/>
          <p:nvPr/>
        </p:nvPicPr>
        <p:blipFill rotWithShape="1">
          <a:blip r:embed="rId8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PARCOURS DES DONNÉES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" name="Google Shape;106;p16" title="soci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7382" y="3242208"/>
            <a:ext cx="44279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folder (2).png"/>
          <p:cNvPicPr preferRelativeResize="0"/>
          <p:nvPr/>
        </p:nvPicPr>
        <p:blipFill rotWithShape="1">
          <a:blip r:embed="rId5">
            <a:alphaModFix/>
          </a:blip>
          <a:srcRect b="0" l="189" r="179" t="0"/>
          <a:stretch/>
        </p:blipFill>
        <p:spPr>
          <a:xfrm>
            <a:off x="2609169" y="2815799"/>
            <a:ext cx="44114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folder (2).png"/>
          <p:cNvPicPr preferRelativeResize="0"/>
          <p:nvPr/>
        </p:nvPicPr>
        <p:blipFill rotWithShape="1">
          <a:blip r:embed="rId5">
            <a:alphaModFix/>
          </a:blip>
          <a:srcRect b="0" l="189" r="179" t="0"/>
          <a:stretch/>
        </p:blipFill>
        <p:spPr>
          <a:xfrm>
            <a:off x="2831431" y="1425289"/>
            <a:ext cx="44114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title="mapshaper.png"/>
          <p:cNvPicPr preferRelativeResize="0"/>
          <p:nvPr/>
        </p:nvPicPr>
        <p:blipFill rotWithShape="1">
          <a:blip r:embed="rId6">
            <a:alphaModFix/>
          </a:blip>
          <a:srcRect b="0" l="16565" r="16558" t="0"/>
          <a:stretch/>
        </p:blipFill>
        <p:spPr>
          <a:xfrm>
            <a:off x="4154444" y="1425305"/>
            <a:ext cx="4428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title="3962382-2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4607" y="1425305"/>
            <a:ext cx="4428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30599" y="3093259"/>
            <a:ext cx="44279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title="2021_anneaux_olympiques_png_transparent_20210724_1834024954.png"/>
          <p:cNvPicPr preferRelativeResize="0"/>
          <p:nvPr/>
        </p:nvPicPr>
        <p:blipFill rotWithShape="1">
          <a:blip r:embed="rId9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13820" y="2864727"/>
            <a:ext cx="442798" cy="44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title="pngwing.com (1)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87382" y="2497276"/>
            <a:ext cx="442798" cy="44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arrow (2)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2942625">
            <a:off x="1961145" y="3098626"/>
            <a:ext cx="537347" cy="537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title="curved-arrow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3000003">
            <a:off x="1961146" y="2499839"/>
            <a:ext cx="537346" cy="53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4142649" y="2015862"/>
            <a:ext cx="536399" cy="21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6478082" y="2513809"/>
            <a:ext cx="536401" cy="11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856236" y="2436237"/>
            <a:ext cx="644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collecte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866512" y="3399863"/>
            <a:ext cx="644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web scraping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2" name="Google Shape;122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3414869" y="1309375"/>
            <a:ext cx="536401" cy="6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4837732" y="1309375"/>
            <a:ext cx="536401" cy="68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343811" y="1425290"/>
            <a:ext cx="644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343775" y="2749607"/>
            <a:ext cx="1907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import, nettoyage, transformation et exploration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664769" y="1425299"/>
            <a:ext cx="8349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reformatage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148277" y="2641790"/>
            <a:ext cx="11058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Construction modèle</a:t>
            </a: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OLAP et dashboard final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" name="Google Shape;128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7711426">
            <a:off x="6446818" y="1603528"/>
            <a:ext cx="560121" cy="121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title="python.png"/>
          <p:cNvPicPr preferRelativeResize="0"/>
          <p:nvPr/>
        </p:nvPicPr>
        <p:blipFill rotWithShape="1">
          <a:blip r:embed="rId16">
            <a:alphaModFix/>
          </a:blip>
          <a:srcRect b="0" l="189" r="179" t="0"/>
          <a:stretch/>
        </p:blipFill>
        <p:spPr>
          <a:xfrm>
            <a:off x="5635953" y="2864714"/>
            <a:ext cx="441151" cy="4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473675" y="739550"/>
            <a:ext cx="35424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89850" y="739550"/>
            <a:ext cx="36738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Récupération des données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11 tables |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6 via Kaggle - 5 par scraping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483 740 lignes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88 colonnes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Fichier Json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Limites des continents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Affinage via Mapshaper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Scraping de données sur Wikipedia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NOTRE DATABASE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COLLECTE, IMPORTATION ET TRAITEMENT DES </a:t>
            </a: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DONNÉES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021425" y="739550"/>
            <a:ext cx="35424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021425" y="739550"/>
            <a:ext cx="35424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Nettoyage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1208 doublons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 table “Results”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 colonnes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Création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Dataframe sport_event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Clés de jointure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Valeur calculée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Uniformisation des éditions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cas de 1956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Premières visualisations EDA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Enregistrement des fichiers .csv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312" y="1965675"/>
            <a:ext cx="442800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4153475" y="2476838"/>
            <a:ext cx="773700" cy="5463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 title="data-collectio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963" y="16501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json-fil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963" y="25582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crawling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963" y="33646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delete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6763" y="11802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merging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6763" y="20883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title="spreadsheet-column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6763" y="29265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title="data-chart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6763" y="35361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diskette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56763" y="40822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2021_anneaux_olympiques_png_transparent_20210724_1834024954.png"/>
          <p:cNvPicPr preferRelativeResize="0"/>
          <p:nvPr/>
        </p:nvPicPr>
        <p:blipFill rotWithShape="1">
          <a:blip r:embed="rId13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EXPLORATOIRE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ORIENTATIONS RETENUES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18" title="new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550" y="686687"/>
            <a:ext cx="3420925" cy="234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225" y="2819887"/>
            <a:ext cx="30780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title="gend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4550" y="3141625"/>
            <a:ext cx="3077725" cy="17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title="outpu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6222" y="803949"/>
            <a:ext cx="3078001" cy="17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title="2021_anneaux_olympiques_png_transparent_20210724_1834024954.png"/>
          <p:cNvPicPr preferRelativeResize="0"/>
          <p:nvPr/>
        </p:nvPicPr>
        <p:blipFill rotWithShape="1">
          <a:blip r:embed="rId8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E1DFDD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MODÉLISATION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SCHÉMA CONSTELLATION OLAP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635"/>
          <a:stretch/>
        </p:blipFill>
        <p:spPr>
          <a:xfrm>
            <a:off x="2174725" y="805008"/>
            <a:ext cx="4794576" cy="39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ANALYSE MULTIDIMENSIONNELLE DES JEUX OLYMPIQUES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Synthèse et chiffres clés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de 126 ans d’Olympisme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Evolution des athlètes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à travers les différentes éditions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Multiplication des disciplines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pour une spécialisation sportive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palmarès très inégalitaire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entre le nord et le sud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Dopage &amp; tricherie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: Prise de conscience de l’impact géopolitique sur le sport ? 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0"/>
          <p:cNvCxnSpPr/>
          <p:nvPr/>
        </p:nvCxnSpPr>
        <p:spPr>
          <a:xfrm flipH="1">
            <a:off x="1747775" y="1647700"/>
            <a:ext cx="2700" cy="2232000"/>
          </a:xfrm>
          <a:prstGeom prst="straightConnector1">
            <a:avLst/>
          </a:prstGeom>
          <a:noFill/>
          <a:ln cap="flat" cmpd="sng" w="9525">
            <a:solidFill>
              <a:srgbClr val="A7844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/>
          <p:nvPr/>
        </p:nvSpPr>
        <p:spPr>
          <a:xfrm>
            <a:off x="1709518" y="3831518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0" title="dashboard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6188" y="1542700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title="abs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6188" y="20907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title="triathlon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96188" y="26336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title="world-map (2)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96188" y="31765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title="steroid (4)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96188" y="374513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709518" y="162909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709518" y="326294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709518" y="2714922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709518" y="2177143"/>
            <a:ext cx="79200" cy="79200"/>
          </a:xfrm>
          <a:prstGeom prst="ellipse">
            <a:avLst/>
          </a:prstGeom>
          <a:solidFill>
            <a:srgbClr val="A78442"/>
          </a:solidFill>
          <a:ln cap="flat" cmpd="sng" w="9525">
            <a:solidFill>
              <a:srgbClr val="A78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VUE D’ENSEMBLE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SYNTHÈSE ET CHIFFRES CLÉS DE 126 ANS D’OLYMPISME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5">
            <a:alphaModFix/>
          </a:blip>
          <a:srcRect b="1095" l="590" r="974" t="13978"/>
          <a:stretch/>
        </p:blipFill>
        <p:spPr>
          <a:xfrm>
            <a:off x="870600" y="805100"/>
            <a:ext cx="7380000" cy="3888000"/>
          </a:xfrm>
          <a:prstGeom prst="roundRect">
            <a:avLst>
              <a:gd fmla="val 5582" name="adj"/>
            </a:avLst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DES </a:t>
            </a: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ATHLÈTES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DU SPORT AMATEUR AU SPORT DE HAUT NIVEAU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4">
            <a:alphaModFix/>
          </a:blip>
          <a:srcRect b="935" l="737" r="895" t="13279"/>
          <a:stretch/>
        </p:blipFill>
        <p:spPr>
          <a:xfrm>
            <a:off x="882000" y="812731"/>
            <a:ext cx="7380000" cy="3888000"/>
          </a:xfrm>
          <a:prstGeom prst="roundRect">
            <a:avLst>
              <a:gd fmla="val 5024" name="adj"/>
            </a:avLst>
          </a:prstGeom>
          <a:noFill/>
          <a:ln>
            <a:noFill/>
          </a:ln>
        </p:spPr>
      </p:pic>
      <p:pic>
        <p:nvPicPr>
          <p:cNvPr id="217" name="Google Shape;217;p22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DES DISCIPLINES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ENTRE SPÉCIALISATION SPORTIVE ET ÉQUITÉ DE GENRE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 rotWithShape="1">
          <a:blip r:embed="rId4">
            <a:alphaModFix/>
          </a:blip>
          <a:srcRect b="804" l="737" r="895" t="13615"/>
          <a:stretch/>
        </p:blipFill>
        <p:spPr>
          <a:xfrm>
            <a:off x="882000" y="805095"/>
            <a:ext cx="7380000" cy="3888000"/>
          </a:xfrm>
          <a:prstGeom prst="roundRect">
            <a:avLst>
              <a:gd fmla="val 5241" name="adj"/>
            </a:avLst>
          </a:prstGeom>
          <a:noFill/>
          <a:ln>
            <a:noFill/>
          </a:ln>
        </p:spPr>
      </p:pic>
      <p:pic>
        <p:nvPicPr>
          <p:cNvPr id="227" name="Google Shape;227;p23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À TRAVERS LE MONDE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UNE UNIVERSALITÉ ILLUSOIRE ?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6" name="Google Shape;236;p24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title="Présentation du Dashboard sur les Jeux Olympiques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363" y="758775"/>
            <a:ext cx="7380000" cy="41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DOPAGE ET TRICHERIE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PRISE DE CONSCIENCE DE L’IMPACT GÉOPOLITIQUE SUR LE SPORT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 rotWithShape="1">
          <a:blip r:embed="rId4">
            <a:alphaModFix/>
          </a:blip>
          <a:srcRect b="1779" l="513" r="760" t="13860"/>
          <a:stretch/>
        </p:blipFill>
        <p:spPr>
          <a:xfrm>
            <a:off x="882000" y="805100"/>
            <a:ext cx="7380000" cy="3888000"/>
          </a:xfrm>
          <a:prstGeom prst="roundRect">
            <a:avLst>
              <a:gd fmla="val 4432" name="adj"/>
            </a:avLst>
          </a:prstGeom>
          <a:noFill/>
          <a:ln>
            <a:noFill/>
          </a:ln>
        </p:spPr>
      </p:pic>
      <p:pic>
        <p:nvPicPr>
          <p:cNvPr id="247" name="Google Shape;247;p25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QUELQUES CHIFFRES POUR CONCLURE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JO organisés par tout le continent africain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7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JO organisés par la France (incluant les futurs JO d’Hiver 2030)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60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pays n’ayant jamais obtenu de médailles (tous dans l’hémisphère sud)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5 000 000 000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L’audience pour les JO de Paris 2024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12 000 000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tickets vendus pour les JO 2024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+150%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dépassement moyen du budget initialement prévu pour chaque organisation de JO depuis 1960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5 200 000 000$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coût global moyen par organisation de JO depuis 1960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50 000 000 000$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coût global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record pour l’organisation des JO de Sotchi en 2014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8" name="Google Shape;258;p26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title="africa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1038" y="1069773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title="france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1038" y="1494512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title="world-map (2)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91038" y="1960348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 title="television (1)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91038" y="2415914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 title="ticket (1)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91038" y="288690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title="earning (1)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91038" y="332190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 title="money-bag (1)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91038" y="378776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 title="flying-money (1)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91038" y="4258735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>
            <p:ph idx="12" type="sldNum"/>
          </p:nvPr>
        </p:nvSpPr>
        <p:spPr>
          <a:xfrm>
            <a:off x="8689525" y="97194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PISTES DE RÉFLEXION À PARTIR DU DASHBOARD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7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Évolutions techniques du dashboard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Ajout des nouvelles éditions et des résultats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Ajout &amp; analyse des JO Paralympiques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Nouvelles perspectives à partir du dashboard</a:t>
            </a:r>
            <a:endParaRPr b="1"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La majorité des pays remportant le plus de médailles combinent apparemment richesse et population importante.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L’hémisphère sud semble hors course malgré un essor de l’Asie depuis la participation de la Chine.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b="1"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Universalité des Jeux olympiques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Analyser le palmarès des pays/continents selon l’IDH (Indice de Développement Humain) et le PIB/habitants.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b="1"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Modèle de Revenus du CIO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(Droits TV et Sponsoring)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75% des revenus proviennent des droits de retransmission audiovisuelle entraînant une véritable dépendance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9400" lvl="0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b="1"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Finances</a:t>
            </a:r>
            <a:endParaRPr b="1"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Quelle est la viabilité de ce modèle face à la montée des plateformes de streaming et au désintérêt relatif des jeunes générations pour la télévision linéaire ?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9" name="Google Shape;279;p27" title="dashboard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2291" y="119401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7" title="stress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1752294" y="2174434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b="15264" l="224" r="22303" t="15257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MERCI DE VOTRE ATTENTION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28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b="22179" l="8120" r="7986" t="21826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4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DES QUESTIONS ?</a:t>
            </a:r>
            <a:endParaRPr sz="3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28" title="conversatio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2613" y="1661212"/>
            <a:ext cx="839500" cy="8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>
            <p:ph idx="12" type="sldNum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‹#›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