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Lexend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1728">
          <p15:clr>
            <a:srgbClr val="747775"/>
          </p15:clr>
        </p15:guide>
        <p15:guide id="3" pos="403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24" y="114"/>
      </p:cViewPr>
      <p:guideLst>
        <p:guide orient="horz" pos="1620"/>
        <p:guide pos="1728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52b0687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b452b0687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2f4e327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3b2f4e327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2f4e3273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b2f4e3273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3d7cab85e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b3d7cab85e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2f4e32739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b2f4e32739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2f4e32739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b2f4e32739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30f9a483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g3b30f9a483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30f9a48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3b30f9a48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30f9a483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b30f9a483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30f9a483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b30f9a483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30f9a483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b30f9a483b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30f9a483b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b30f9a483b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30f9a483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b30f9a483b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30f9a483b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g3b30f9a483b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30f9a483b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3b30f9a483b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498ca92d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g3b498ca92d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.png"/><Relationship Id="rId3" Type="http://schemas.openxmlformats.org/officeDocument/2006/relationships/image" Target="../media/image7.jpg"/><Relationship Id="rId7" Type="http://schemas.openxmlformats.org/officeDocument/2006/relationships/image" Target="../media/image2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10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image" Target="../media/image14.png"/><Relationship Id="rId1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14.png"/><Relationship Id="rId3" Type="http://schemas.openxmlformats.org/officeDocument/2006/relationships/image" Target="../media/image7.jp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jpg"/><Relationship Id="rId9" Type="http://schemas.openxmlformats.org/officeDocument/2006/relationships/image" Target="../media/image36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jp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7.jp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5.png"/><Relationship Id="rId10" Type="http://schemas.openxmlformats.org/officeDocument/2006/relationships/image" Target="../media/image49.png"/><Relationship Id="rId4" Type="http://schemas.openxmlformats.org/officeDocument/2006/relationships/image" Target="../media/image14.png"/><Relationship Id="rId9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0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5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youtube.com/watch?v=EY76mXg9wP8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61.png"/><Relationship Id="rId3" Type="http://schemas.openxmlformats.org/officeDocument/2006/relationships/image" Target="../media/image7.jp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15.png"/><Relationship Id="rId10" Type="http://schemas.openxmlformats.org/officeDocument/2006/relationships/image" Target="../media/image58.png"/><Relationship Id="rId4" Type="http://schemas.openxmlformats.org/officeDocument/2006/relationships/image" Target="../media/image14.png"/><Relationship Id="rId9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483575" y="645626"/>
            <a:ext cx="10371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1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Your Tech Bootcamp</a:t>
            </a:r>
            <a:endParaRPr sz="1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3323" y="645658"/>
            <a:ext cx="563350" cy="593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0" y="1828895"/>
            <a:ext cx="9144000" cy="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4500">
                <a:solidFill>
                  <a:schemeClr val="accent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126 ans de Jeux Olympiques</a:t>
            </a:r>
            <a:endParaRPr sz="4500">
              <a:solidFill>
                <a:schemeClr val="accent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135100" y="3963926"/>
            <a:ext cx="1216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125" tIns="72125" rIns="72125" bIns="7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Stéphanie </a:t>
            </a:r>
            <a:endParaRPr sz="1025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BRETTON</a:t>
            </a:r>
            <a:endParaRPr sz="1025">
              <a:solidFill>
                <a:schemeClr val="accent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355502" y="3963925"/>
            <a:ext cx="1212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125" tIns="72125" rIns="72125" bIns="7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Pierre-Alexandre </a:t>
            </a:r>
            <a:endParaRPr sz="1025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PAGET</a:t>
            </a:r>
            <a:endParaRPr sz="1025">
              <a:solidFill>
                <a:schemeClr val="accent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72303" y="3963326"/>
            <a:ext cx="12162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125" tIns="72125" rIns="72125" bIns="7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Maxime</a:t>
            </a:r>
            <a:endParaRPr sz="1025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BREUILLARD</a:t>
            </a:r>
            <a:endParaRPr sz="1025">
              <a:solidFill>
                <a:schemeClr val="accent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792705" y="3963326"/>
            <a:ext cx="1216200" cy="4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125" tIns="72125" rIns="72125" bIns="7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Simon</a:t>
            </a:r>
            <a:endParaRPr sz="1025">
              <a:solidFill>
                <a:schemeClr val="accent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25">
                <a:solidFill>
                  <a:schemeClr val="accent2"/>
                </a:solidFill>
              </a:rPr>
              <a:t>CARTIGNY</a:t>
            </a:r>
            <a:endParaRPr sz="1025">
              <a:solidFill>
                <a:schemeClr val="accent2"/>
              </a:solidFill>
            </a:endParaRPr>
          </a:p>
        </p:txBody>
      </p:sp>
      <p:pic>
        <p:nvPicPr>
          <p:cNvPr id="61" name="Google Shape;61;p13" title="1757535878566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8410" y="3178669"/>
            <a:ext cx="729600" cy="729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2" name="Google Shape;62;p13" title="1564208038449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1080" y="3178669"/>
            <a:ext cx="729600" cy="729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3" name="Google Shape;63;p13" title="1760083308479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35990" y="3178669"/>
            <a:ext cx="729600" cy="729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4" name="Google Shape;64;p13" title="NextDoorStories Pierre-Alexandre &amp; Amandine-47.jpg"/>
          <p:cNvPicPr preferRelativeResize="0"/>
          <p:nvPr/>
        </p:nvPicPr>
        <p:blipFill rotWithShape="1">
          <a:blip r:embed="rId7">
            <a:alphaModFix/>
          </a:blip>
          <a:srcRect l="27789" t="12619" r="31889" b="60484"/>
          <a:stretch/>
        </p:blipFill>
        <p:spPr>
          <a:xfrm>
            <a:off x="3600095" y="3178669"/>
            <a:ext cx="729600" cy="7296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5" name="Google Shape;65;p13" title="olympic-games (1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75000" y="4512562"/>
            <a:ext cx="594001" cy="59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Pourquoi les Jeux Olympiques ? </a:t>
            </a:r>
            <a:endParaRPr sz="1200">
              <a:solidFill>
                <a:schemeClr val="dk2"/>
              </a:solidFill>
              <a:highlight>
                <a:srgbClr val="EFEFE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highlight>
                <a:srgbClr val="EFEFE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Présentation du Dataset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EDA, visualisations pour explorer les pistes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OLAP, Modélisation du schéma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highlight>
                <a:srgbClr val="EFEFE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highlight>
                <a:srgbClr val="EFEFEF"/>
              </a:highlight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Dashboard : Analyse multidimensionnelle des performances olympiques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Conclusion et ouverture</a:t>
            </a:r>
            <a:endParaRPr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PROGRAMME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4" name="Google Shape;74;p14" title="olympic-games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7813" y="1275500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 title="dataset (1)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7813" y="1806381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title="visualisation (1)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27813" y="2345856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olap (1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327813" y="2878844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 title="business (1)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27813" y="3455344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 title="lightbulb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27813" y="3974294"/>
            <a:ext cx="252000" cy="25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/>
          <p:nvPr/>
        </p:nvCxnSpPr>
        <p:spPr>
          <a:xfrm>
            <a:off x="2145080" y="1379303"/>
            <a:ext cx="3600" cy="2681400"/>
          </a:xfrm>
          <a:prstGeom prst="straightConnector1">
            <a:avLst/>
          </a:prstGeom>
          <a:noFill/>
          <a:ln w="9525" cap="flat" cmpd="sng">
            <a:solidFill>
              <a:srgbClr val="A7844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Google Shape;81;p14"/>
          <p:cNvSpPr/>
          <p:nvPr/>
        </p:nvSpPr>
        <p:spPr>
          <a:xfrm>
            <a:off x="2107273" y="1350506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2107286" y="1892768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2107286" y="2464268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2107286" y="2965243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2107286" y="3541743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2107286" y="4060693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4" title="2021_anneaux_olympiques_png_transparent_20210724_1834024954.png"/>
          <p:cNvPicPr preferRelativeResize="0"/>
          <p:nvPr/>
        </p:nvPicPr>
        <p:blipFill rotWithShape="1">
          <a:blip r:embed="rId10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2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 thème qui passionne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l’ensemble des membres du groupe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 sujet qui parle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à une majorité de personnes à travers le monde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Audience estimée pour les JO de Paris 2024</a:t>
            </a: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≈ 5 milliards de personnes 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 défi technique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Manipuler des datasets massifs et variés dans le temps pour en extraire des insights pertinents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Effectuer du scraping pour extraire des données spécifiques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POURQUOI LES JEUX OLYMPIQUES ?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8" name="Google Shape;98;p15" title="passionate (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8313" y="1134925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 title="meeting (1)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8313" y="184937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title="eiffel-tower (1).png"/>
          <p:cNvPicPr preferRelativeResize="0"/>
          <p:nvPr/>
        </p:nvPicPr>
        <p:blipFill rotWithShape="1">
          <a:blip r:embed="rId6">
            <a:alphaModFix/>
          </a:blip>
          <a:srcRect r="30449"/>
          <a:stretch/>
        </p:blipFill>
        <p:spPr>
          <a:xfrm>
            <a:off x="1303134" y="2658455"/>
            <a:ext cx="25037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title="data (1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48313" y="355017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title="2021_anneaux_olympiques_png_transparent_20210724_1834024954.png"/>
          <p:cNvPicPr preferRelativeResize="0"/>
          <p:nvPr/>
        </p:nvPicPr>
        <p:blipFill rotWithShape="1">
          <a:blip r:embed="rId8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3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PARCOURS DES DONNÉES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2" name="Google Shape;112;p16" title="soci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7382" y="3242208"/>
            <a:ext cx="442799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title="folder (2).png"/>
          <p:cNvPicPr preferRelativeResize="0"/>
          <p:nvPr/>
        </p:nvPicPr>
        <p:blipFill rotWithShape="1">
          <a:blip r:embed="rId5">
            <a:alphaModFix/>
          </a:blip>
          <a:srcRect l="189" r="179"/>
          <a:stretch/>
        </p:blipFill>
        <p:spPr>
          <a:xfrm>
            <a:off x="2609169" y="2815799"/>
            <a:ext cx="441149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title="folder (2).png"/>
          <p:cNvPicPr preferRelativeResize="0"/>
          <p:nvPr/>
        </p:nvPicPr>
        <p:blipFill rotWithShape="1">
          <a:blip r:embed="rId5">
            <a:alphaModFix/>
          </a:blip>
          <a:srcRect l="189" r="179"/>
          <a:stretch/>
        </p:blipFill>
        <p:spPr>
          <a:xfrm>
            <a:off x="2831431" y="1425289"/>
            <a:ext cx="441149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title="mapshaper.png"/>
          <p:cNvPicPr preferRelativeResize="0"/>
          <p:nvPr/>
        </p:nvPicPr>
        <p:blipFill rotWithShape="1">
          <a:blip r:embed="rId6">
            <a:alphaModFix/>
          </a:blip>
          <a:srcRect l="16565" r="16558"/>
          <a:stretch/>
        </p:blipFill>
        <p:spPr>
          <a:xfrm>
            <a:off x="4154444" y="1425305"/>
            <a:ext cx="442800" cy="4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title="3962382-2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14607" y="1425305"/>
            <a:ext cx="442800" cy="4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30599" y="3093259"/>
            <a:ext cx="442799" cy="44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title="2021_anneaux_olympiques_png_transparent_20210724_1834024954.png"/>
          <p:cNvPicPr preferRelativeResize="0"/>
          <p:nvPr/>
        </p:nvPicPr>
        <p:blipFill rotWithShape="1">
          <a:blip r:embed="rId9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13820" y="2864727"/>
            <a:ext cx="442798" cy="442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title="pngwing.com (1)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287382" y="2497276"/>
            <a:ext cx="442798" cy="442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title="arrow (2)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2942625">
            <a:off x="1961145" y="3098626"/>
            <a:ext cx="537347" cy="537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title="curved-arrow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rot="3000003">
            <a:off x="1961146" y="2499839"/>
            <a:ext cx="537346" cy="53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5400000">
            <a:off x="4142649" y="2015862"/>
            <a:ext cx="536399" cy="21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5400000">
            <a:off x="6478082" y="2513809"/>
            <a:ext cx="536401" cy="11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1856236" y="2436237"/>
            <a:ext cx="6444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collecte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1866512" y="3399863"/>
            <a:ext cx="6444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web scraping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8" name="Google Shape;128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5400000">
            <a:off x="3414869" y="1309375"/>
            <a:ext cx="536401" cy="6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5400000">
            <a:off x="4837732" y="1309375"/>
            <a:ext cx="536401" cy="68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3343811" y="1425290"/>
            <a:ext cx="6444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3343775" y="2749607"/>
            <a:ext cx="19071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import, nettoyage, transformation et exploration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4664769" y="1425299"/>
            <a:ext cx="8349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reformatage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6148277" y="2641790"/>
            <a:ext cx="1105800" cy="5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Construction modèle OLAP et dashboard final</a:t>
            </a: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4" name="Google Shape;134;p16" title="vertical-arrow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 rot="10800000">
            <a:off x="5614619" y="1994686"/>
            <a:ext cx="536401" cy="6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title="python.png"/>
          <p:cNvPicPr preferRelativeResize="0"/>
          <p:nvPr/>
        </p:nvPicPr>
        <p:blipFill rotWithShape="1">
          <a:blip r:embed="rId16">
            <a:alphaModFix/>
          </a:blip>
          <a:srcRect l="189" r="179"/>
          <a:stretch/>
        </p:blipFill>
        <p:spPr>
          <a:xfrm>
            <a:off x="5635953" y="2864714"/>
            <a:ext cx="441151" cy="442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>
            <a:spLocks noGrp="1"/>
          </p:cNvSpPr>
          <p:nvPr>
            <p:ph type="sldNum" idx="12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4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473675" y="739550"/>
            <a:ext cx="35424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389850" y="739550"/>
            <a:ext cx="36738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Récupération des données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11 tables |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6 via Kaggle - 5 par scraping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483 740 lignes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88 colonnes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Fichier Json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Limites des continents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Affinage via Mapshaper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Scraping de données sur Wikipedia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NOTRE DATABASE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COLLECTE, IMPORTATION ET TRAITEMENT DES DONNÉES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021425" y="739550"/>
            <a:ext cx="35424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021425" y="739550"/>
            <a:ext cx="35424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Nettoyage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1208 doublons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1 table “Results”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7 colonnes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Création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Dataframe sport_event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Clés de jointure 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Valeur calculée 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Uniformisation des éditions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exend"/>
              <a:buChar char="-"/>
            </a:pPr>
            <a:r>
              <a:rPr lang="fr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cas de 1956</a:t>
            </a: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Premières visualisations EDA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Enregistrement des fichiers .csv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7" title="image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312" y="1965675"/>
            <a:ext cx="442800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4153475" y="2476838"/>
            <a:ext cx="773700" cy="546300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" name="Google Shape;149;p17" title="data-collectio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963" y="165015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title="json-f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3963" y="25582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title="crawling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3963" y="336465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title="delet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56763" y="118025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title="merging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56763" y="20883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title="spreadsheet-column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356763" y="29265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title="data-chart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356763" y="35361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title="diskett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356763" y="408220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title="2021_anneaux_olympiques_png_transparent_20210724_1834024954.png"/>
          <p:cNvPicPr preferRelativeResize="0"/>
          <p:nvPr/>
        </p:nvPicPr>
        <p:blipFill rotWithShape="1">
          <a:blip r:embed="rId13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>
            <a:spLocks noGrp="1"/>
          </p:cNvSpPr>
          <p:nvPr>
            <p:ph type="sldNum" idx="12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5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ANALYSE EXPLORATOIRE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ORIENTATIONS RETENUES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6" name="Google Shape;166;p18" title="new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550" y="739556"/>
            <a:ext cx="3077725" cy="210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title="heatm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6225" y="2819887"/>
            <a:ext cx="30780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title="gende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6125" y="2819875"/>
            <a:ext cx="3077725" cy="17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title="outpu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6222" y="841812"/>
            <a:ext cx="3078001" cy="178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title="2021_anneaux_olympiques_png_transparent_20210724_1834024954.png"/>
          <p:cNvPicPr preferRelativeResize="0"/>
          <p:nvPr/>
        </p:nvPicPr>
        <p:blipFill rotWithShape="1">
          <a:blip r:embed="rId8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>
            <a:spLocks noGrp="1"/>
          </p:cNvSpPr>
          <p:nvPr>
            <p:ph type="sldNum" idx="12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6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name="adj" fmla="val 16667"/>
            </a:avLst>
          </a:prstGeom>
          <a:solidFill>
            <a:srgbClr val="E1DFDD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MODÉLISATION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SCHÉMA CONSTELLATION OLAP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 rotWithShape="1">
          <a:blip r:embed="rId4">
            <a:alphaModFix/>
          </a:blip>
          <a:srcRect t="635"/>
          <a:stretch/>
        </p:blipFill>
        <p:spPr>
          <a:xfrm>
            <a:off x="2174725" y="805008"/>
            <a:ext cx="4794576" cy="39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title="2021_anneaux_olympiques_png_transparent_20210724_1834024954.png"/>
          <p:cNvPicPr preferRelativeResize="0"/>
          <p:nvPr/>
        </p:nvPicPr>
        <p:blipFill rotWithShape="1">
          <a:blip r:embed="rId5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>
            <a:spLocks noGrp="1"/>
          </p:cNvSpPr>
          <p:nvPr>
            <p:ph type="sldNum" idx="12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7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0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ANALYSE MULTIDIMENSIONNELLE DES JEUX OLYMPIQUES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Synthèse et chiffres clés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de 126 ans d’Olympisme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Evolution des athlètes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à travers les différentes éditions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Multiplication des disciplines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pour une spécialisation sportive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 palmarès très inégalitaire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entre le nord et le sud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Dopage &amp; tricherie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: Prise de conscience de l’impact géopolitique sur le sport ? 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0"/>
          <p:cNvCxnSpPr/>
          <p:nvPr/>
        </p:nvCxnSpPr>
        <p:spPr>
          <a:xfrm flipH="1">
            <a:off x="1747775" y="1647700"/>
            <a:ext cx="2700" cy="2232000"/>
          </a:xfrm>
          <a:prstGeom prst="straightConnector1">
            <a:avLst/>
          </a:prstGeom>
          <a:noFill/>
          <a:ln w="9525" cap="flat" cmpd="sng">
            <a:solidFill>
              <a:srgbClr val="A7844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" name="Google Shape;195;p20"/>
          <p:cNvSpPr/>
          <p:nvPr/>
        </p:nvSpPr>
        <p:spPr>
          <a:xfrm>
            <a:off x="1709518" y="3831518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20" title="dashboar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96188" y="1542700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title="abs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96188" y="2090739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title="triathlon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96188" y="2633639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title="world-map (2)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96188" y="3176539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title="steroid (4)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96188" y="3745130"/>
            <a:ext cx="252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/>
          <p:nvPr/>
        </p:nvSpPr>
        <p:spPr>
          <a:xfrm>
            <a:off x="1709518" y="1629093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1709518" y="3262943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1709518" y="2714922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1709518" y="2177143"/>
            <a:ext cx="79200" cy="79200"/>
          </a:xfrm>
          <a:prstGeom prst="ellipse">
            <a:avLst/>
          </a:prstGeom>
          <a:solidFill>
            <a:srgbClr val="A78442"/>
          </a:solidFill>
          <a:ln w="9525" cap="flat" cmpd="sng">
            <a:solidFill>
              <a:srgbClr val="A784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"/>
          <p:cNvSpPr txBox="1">
            <a:spLocks noGrp="1"/>
          </p:cNvSpPr>
          <p:nvPr>
            <p:ph type="sldNum" idx="12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8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VUE D’ENSEMBLE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SYNTHÈSE ET CHIFFRES CLÉS DE 126 ANS D’OLYMPISME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 rotWithShape="1">
          <a:blip r:embed="rId5">
            <a:alphaModFix/>
          </a:blip>
          <a:srcRect l="590" t="13978" r="974" b="1095"/>
          <a:stretch/>
        </p:blipFill>
        <p:spPr>
          <a:xfrm>
            <a:off x="870600" y="805100"/>
            <a:ext cx="7380000" cy="3888000"/>
          </a:xfrm>
          <a:prstGeom prst="roundRect">
            <a:avLst>
              <a:gd name="adj" fmla="val 5582"/>
            </a:avLst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>
            <a:spLocks noGrp="1"/>
          </p:cNvSpPr>
          <p:nvPr>
            <p:ph type="sldNum" idx="12"/>
          </p:nvPr>
        </p:nvSpPr>
        <p:spPr>
          <a:xfrm>
            <a:off x="8799054" y="90000"/>
            <a:ext cx="252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9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ANALYSE DES ATHLÈTES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DU SPORT AMATEUR AU SPORT DE HAUT NIVEAU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2" name="Google Shape;222;p22"/>
          <p:cNvPicPr preferRelativeResize="0"/>
          <p:nvPr/>
        </p:nvPicPr>
        <p:blipFill rotWithShape="1">
          <a:blip r:embed="rId4">
            <a:alphaModFix/>
          </a:blip>
          <a:srcRect l="737" t="13279" r="895" b="935"/>
          <a:stretch/>
        </p:blipFill>
        <p:spPr>
          <a:xfrm>
            <a:off x="882000" y="812731"/>
            <a:ext cx="7380000" cy="3888000"/>
          </a:xfrm>
          <a:prstGeom prst="roundRect">
            <a:avLst>
              <a:gd name="adj" fmla="val 5024"/>
            </a:avLst>
          </a:prstGeom>
          <a:noFill/>
          <a:ln>
            <a:noFill/>
          </a:ln>
        </p:spPr>
      </p:pic>
      <p:pic>
        <p:nvPicPr>
          <p:cNvPr id="223" name="Google Shape;223;p22" title="2021_anneaux_olympiques_png_transparent_20210724_1834024954.png"/>
          <p:cNvPicPr preferRelativeResize="0"/>
          <p:nvPr/>
        </p:nvPicPr>
        <p:blipFill rotWithShape="1">
          <a:blip r:embed="rId5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>
            <a:spLocks noGrp="1"/>
          </p:cNvSpPr>
          <p:nvPr>
            <p:ph type="sldNum" idx="12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10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ANALYSE DES DISCIPLINES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ENTRE SPÉCIALISATION SPORTIVE ET ÉQUITÉ DE GENRE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4">
            <a:alphaModFix/>
          </a:blip>
          <a:srcRect l="737" t="13615" r="895" b="804"/>
          <a:stretch/>
        </p:blipFill>
        <p:spPr>
          <a:xfrm>
            <a:off x="882000" y="805095"/>
            <a:ext cx="7380000" cy="3888000"/>
          </a:xfrm>
          <a:prstGeom prst="roundRect">
            <a:avLst>
              <a:gd name="adj" fmla="val 5241"/>
            </a:avLst>
          </a:prstGeom>
          <a:noFill/>
          <a:ln>
            <a:noFill/>
          </a:ln>
        </p:spPr>
      </p:pic>
      <p:pic>
        <p:nvPicPr>
          <p:cNvPr id="233" name="Google Shape;233;p23" title="2021_anneaux_olympiques_png_transparent_20210724_1834024954.png"/>
          <p:cNvPicPr preferRelativeResize="0"/>
          <p:nvPr/>
        </p:nvPicPr>
        <p:blipFill rotWithShape="1">
          <a:blip r:embed="rId5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>
            <a:spLocks noGrp="1"/>
          </p:cNvSpPr>
          <p:nvPr>
            <p:ph type="sldNum" idx="12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11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ANALYSE À TRAVERS LE MONDE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UNE UNIVERSALITÉ ILLUSOIRE ?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2" name="Google Shape;242;p24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 title="Présentation du Dashboard sur les Jeux Olympiques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363" y="758775"/>
            <a:ext cx="7380000" cy="413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>
            <a:spLocks noGrp="1"/>
          </p:cNvSpPr>
          <p:nvPr>
            <p:ph type="sldNum" idx="12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12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5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DOPAGE ET TRICHERIE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>
                <a:solidFill>
                  <a:srgbClr val="C0C0C0"/>
                </a:solidFill>
                <a:latin typeface="Inter"/>
                <a:ea typeface="Inter"/>
                <a:cs typeface="Inter"/>
                <a:sym typeface="Inter"/>
              </a:rPr>
              <a:t>PRISE DE CONSCIENCE DE L’IMPACT GÉOPOLITIQUE SUR LE SPORT</a:t>
            </a:r>
            <a:endParaRPr b="1">
              <a:solidFill>
                <a:srgbClr val="C0C0C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2" name="Google Shape;252;p25"/>
          <p:cNvPicPr preferRelativeResize="0"/>
          <p:nvPr/>
        </p:nvPicPr>
        <p:blipFill rotWithShape="1">
          <a:blip r:embed="rId4">
            <a:alphaModFix/>
          </a:blip>
          <a:srcRect l="513" t="13860" r="760" b="1779"/>
          <a:stretch/>
        </p:blipFill>
        <p:spPr>
          <a:xfrm>
            <a:off x="882000" y="805100"/>
            <a:ext cx="7380000" cy="3888000"/>
          </a:xfrm>
          <a:prstGeom prst="roundRect">
            <a:avLst>
              <a:gd name="adj" fmla="val 4432"/>
            </a:avLst>
          </a:prstGeom>
          <a:noFill/>
          <a:ln>
            <a:noFill/>
          </a:ln>
        </p:spPr>
      </p:pic>
      <p:pic>
        <p:nvPicPr>
          <p:cNvPr id="253" name="Google Shape;253;p25" title="2021_anneaux_olympiques_png_transparent_20210724_1834024954.png"/>
          <p:cNvPicPr preferRelativeResize="0"/>
          <p:nvPr/>
        </p:nvPicPr>
        <p:blipFill rotWithShape="1">
          <a:blip r:embed="rId5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>
            <a:spLocks noGrp="1"/>
          </p:cNvSpPr>
          <p:nvPr>
            <p:ph type="sldNum" idx="12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13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6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QUELQUES CHIFFRES POUR CONCLURE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fr" sz="12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fr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nombre de JO organisés par tout le continent africain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1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7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nombre de JO organisés par la France (incluant les futurs JO d’Hiver 2030)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1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60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nombre de pays n’ayant jamais obtenu de médailles (tous dans l’hémisphère sud)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5 000 000 000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L’audience pour les JO de Paris 2024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12 000 000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nombre de tickets vendus pour les JO 2024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 b="1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+150%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dépassement moyen du budget initialement prévu pour chaque organisation de JO depuis 1960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5 200 000 000$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coût global moyen par organisation de JO depuis 1960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>
                <a:solidFill>
                  <a:srgbClr val="A78442"/>
                </a:solidFill>
                <a:latin typeface="Lexend"/>
                <a:ea typeface="Lexend"/>
                <a:cs typeface="Lexend"/>
                <a:sym typeface="Lexend"/>
              </a:rPr>
              <a:t>50 000 000 000$  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coût global record pour l’organisation des JO de Sotchi en 2014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4" name="Google Shape;264;p26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6" title="africa (1)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91038" y="1069773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6" title="france (1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91038" y="1494512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6" title="world-map (2)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91038" y="1960348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6" title="television (1)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91038" y="2415914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 title="ticket (1)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891038" y="2886900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 title="earning (1)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891038" y="3321900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6" title="money-bag (1)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891038" y="3787760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6" title="flying-money (1)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891038" y="4258735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>
            <a:spLocks noGrp="1"/>
          </p:cNvSpPr>
          <p:nvPr>
            <p:ph type="sldNum" idx="12"/>
          </p:nvPr>
        </p:nvSpPr>
        <p:spPr>
          <a:xfrm>
            <a:off x="8689525" y="97194"/>
            <a:ext cx="361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14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7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PISTES DE RÉFLEXION À PARTIR DU DASHBOARD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" name="Google Shape;282;p27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Évolutions techniques du dashboard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Ajout des nouvelles éditions et des résultats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Ajout &amp; analyse des JO Paralympiques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Nouvelles perspectives à partir du dashboard</a:t>
            </a:r>
            <a:endParaRPr sz="10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La majorité des pays remportant le plus de médailles combinent apparemment richesse et population importante.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L’hémisphère sud semble hors course malgré un essor de l’Asie depuis la participation de la Chine.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3200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Universalité des Jeux olympiques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Analyser le palmarès des pays/continents selon l’IDH (Indice de Développement Humain) et le PIB/habitants.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Le Modèle de Revenus du CIO</a:t>
            </a: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(Droits TV et Sponsoring)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75% des revenus proviennent des droits de retransmission audiovisuelle entraînant une véritable dépendance</a:t>
            </a: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8288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"/>
              <a:buChar char="-"/>
            </a:pPr>
            <a:r>
              <a:rPr lang="fr" sz="8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Finances</a:t>
            </a:r>
            <a:endParaRPr sz="8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Quelle est la viabilité de ce modèle face à la montée des plateformes de streaming et au désintérêt relatif des jeunes générations pour la télévision linéaire ?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5" name="Google Shape;285;p27" title="dashboar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52291" y="1194016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 title="stress (1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flipH="1">
            <a:off x="1752294" y="2174434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>
            <a:spLocks noGrp="1"/>
          </p:cNvSpPr>
          <p:nvPr>
            <p:ph type="sldNum" idx="12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15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8" title="360_F_666581036_SfrNrycwJbl4OhDe8zofl3thSGhnGEKq.jpg"/>
          <p:cNvPicPr preferRelativeResize="0"/>
          <p:nvPr/>
        </p:nvPicPr>
        <p:blipFill rotWithShape="1">
          <a:blip r:embed="rId3">
            <a:alphaModFix amt="8000"/>
          </a:blip>
          <a:srcRect l="224" t="15257" r="22303" b="15264"/>
          <a:stretch/>
        </p:blipFill>
        <p:spPr>
          <a:xfrm>
            <a:off x="0" y="573600"/>
            <a:ext cx="8964725" cy="45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0" y="0"/>
            <a:ext cx="9144000" cy="573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MERCI DE VOTRE ATTENTION</a:t>
            </a:r>
            <a:endParaRPr sz="1800" b="1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830850" y="753925"/>
            <a:ext cx="7482300" cy="4020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28" title="2021_anneaux_olympiques_png_transparent_20210724_1834024954.png"/>
          <p:cNvPicPr preferRelativeResize="0"/>
          <p:nvPr/>
        </p:nvPicPr>
        <p:blipFill rotWithShape="1">
          <a:blip r:embed="rId4">
            <a:alphaModFix/>
          </a:blip>
          <a:srcRect l="8120" t="21826" r="7986" b="22179"/>
          <a:stretch/>
        </p:blipFill>
        <p:spPr>
          <a:xfrm>
            <a:off x="8368108" y="4732428"/>
            <a:ext cx="763333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025" y="4732424"/>
            <a:ext cx="538144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8"/>
          <p:cNvSpPr txBox="1"/>
          <p:nvPr/>
        </p:nvSpPr>
        <p:spPr>
          <a:xfrm>
            <a:off x="830850" y="753925"/>
            <a:ext cx="74823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3400"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4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À VOS QUESTIONS</a:t>
            </a:r>
            <a:endParaRPr sz="36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 title="conversation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62613" y="1661212"/>
            <a:ext cx="839500" cy="8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>
            <a:spLocks noGrp="1"/>
          </p:cNvSpPr>
          <p:nvPr>
            <p:ph type="sldNum" idx="12"/>
          </p:nvPr>
        </p:nvSpPr>
        <p:spPr>
          <a:xfrm>
            <a:off x="8689525" y="90000"/>
            <a:ext cx="3615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>
                <a:solidFill>
                  <a:srgbClr val="A78442"/>
                </a:solidFill>
              </a:rPr>
              <a:t>16</a:t>
            </a:fld>
            <a:endParaRPr>
              <a:solidFill>
                <a:srgbClr val="A7844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Office PowerPoint</Application>
  <PresentationFormat>Affichage à l'écran (16:9)</PresentationFormat>
  <Paragraphs>178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Inter SemiBold</vt:lpstr>
      <vt:lpstr>Inter</vt:lpstr>
      <vt:lpstr>Courier New</vt:lpstr>
      <vt:lpstr>Lexend</vt:lpstr>
      <vt:lpstr>Arial</vt:lpstr>
      <vt:lpstr>Simple Light</vt:lpstr>
      <vt:lpstr>Your Tech Bootcamp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Maxime Breuillard</cp:lastModifiedBy>
  <cp:revision>1</cp:revision>
  <dcterms:modified xsi:type="dcterms:W3CDTF">2026-01-05T11:16:35Z</dcterms:modified>
</cp:coreProperties>
</file>